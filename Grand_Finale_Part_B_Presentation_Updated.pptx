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868680" cy="868680"/>
          </a:xfrm>
          <a:prstGeom prst="rect">
            <a:avLst/>
          </a:prstGeom>
        </p:spPr>
      </p:pic>
      <p:pic>
        <p:nvPicPr>
          <p:cNvPr id="3" name="Image 1" descr="sk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256032"/>
            <a:ext cx="868680" cy="73837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" y="11612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11000232" y="99441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SKH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228600"/>
            <a:ext cx="8714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KOPARGOAN HACKATHON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Grand Finale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737360" y="1417320"/>
            <a:ext cx="8714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B: NEW PROBLEM STATEMENT / CHALLENGE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18288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06040"/>
            <a:ext cx="10908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1800" b="1" dirty="0"/>
          </a:p>
          <a:p>
            <a:pPr>
              <a:defRPr sz="1300" b="1">
                <a:solidFill>
                  <a:srgbClr val="0B2545"/>
                </a:solidFill>
                <a:latin typeface="Calibri"/>
              </a:defRPr>
            </a:pPr>
            <a:r>
              <a:t>Problem Statement ID :  skh052 (via SKH020 Government Records Lane)</a:t>
            </a:r>
          </a:p>
          <a:p>
            <a:pPr>
              <a:defRPr sz="1100" b="0">
                <a:solidFill>
                  <a:srgbClr val="1E293B"/>
                </a:solidFill>
                <a:latin typeface="Calibri"/>
              </a:defRPr>
            </a:pPr>
            <a:r>
              <a:t>Problem Statement Title :  Resource-Constrained Civic Decision &amp; Response Platform for Kopargaon (Shejpali Digital Twin)</a:t>
            </a:r>
          </a:p>
          <a:p>
            <a:pPr>
              <a:defRPr sz="1200" b="1">
                <a:solidFill>
                  <a:srgbClr val="B91C1C"/>
                </a:solidFill>
                <a:latin typeface="Calibri"/>
              </a:defRPr>
            </a:pPr>
            <a:r>
              <a:t>Challenge Assigned (Live Scenario) :  Data-Store Blackout + Misinformation / Fake-Submission Defense</a:t>
            </a:r>
          </a:p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Theme :  Digital Governance &amp; Municipal Resource Equity</a:t>
            </a:r>
          </a:p>
          <a:p>
            <a:pPr>
              <a:defRPr sz="1200" b="0">
                <a:solidFill>
                  <a:srgbClr val="1E293B"/>
                </a:solidFill>
                <a:latin typeface="Calibri"/>
              </a:defRPr>
            </a:pPr>
            <a:r>
              <a:t>PS Category :  Software</a:t>
            </a:r>
          </a:p>
          <a:p>
            <a:pPr>
              <a:defRPr sz="1300" b="1">
                <a:solidFill>
                  <a:srgbClr val="0B2545"/>
                </a:solidFill>
                <a:latin typeface="Calibri"/>
              </a:defRPr>
            </a:pPr>
            <a:r>
              <a:t>Team ID :  56EGZG</a:t>
            </a:r>
          </a:p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Team Name (Registered on portal) :  PaperTrail</a:t>
            </a:r>
          </a:p>
          <a:p>
            <a:pPr>
              <a:defRPr sz="1100" b="0">
                <a:solidFill>
                  <a:srgbClr val="475569"/>
                </a:solidFill>
                <a:latin typeface="Calibri"/>
              </a:defRPr>
            </a:pPr>
            <a:r>
              <a:t>Team Members :  Abhidnya H. | Sanika Tribhuvan | Franklin</a:t>
            </a:r>
          </a:p>
          <a:p>
            <a:pPr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College :  BPHE Society's Ahmednagar College &amp; IMS College, Ahmednagar</a:t>
            </a:r>
          </a:p>
        </p:txBody>
      </p:sp>
      <p:pic>
        <p:nvPicPr>
          <p:cNvPr id="10" name="Image 2" descr="footer_gra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PaperTrail</a:t>
            </a:r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 RESPONSE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u="sng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Solution's Response to the Live Scenario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endParaRPr lang="en-US" sz="1900" dirty="0"/>
          </a:p>
          <a:p>
            <a:pPr>
              <a:defRPr sz="1200" b="1">
                <a:solidFill>
                  <a:srgbClr val="B91C1C"/>
                </a:solidFill>
                <a:latin typeface="Calibri"/>
              </a:defRPr>
            </a:pPr>
            <a:r>
              <a:t>1. Defense Against Data-Store Blackout / Mid-Flight Corruption (Challenge 1):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Dual-Layer In-Memory State Shadowing: Sluice allocations and grievance queues are held in ephemeral React memory refs and circular buffers before flushing. If localStorage or database wipes mid-operation, the system continues running with zero disruption.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Cryptographic Genesis Re-Anchoring: Leveraged SHA-256 AuditLedger (verifyChainIntegrity()) to re-sync state from printed QR permits (Maji Pauti) and GLBC base quotas, ensuring zero data loss during critical Awartan cycles.</a:t>
            </a:r>
          </a:p>
          <a:p>
            <a:pPr>
              <a:defRPr sz="1200" b="1">
                <a:solidFill>
                  <a:srgbClr val="B91C1C"/>
                </a:solidFill>
                <a:latin typeface="Calibri"/>
              </a:defRPr>
            </a:pPr>
            <a:r>
              <a:t>2. Defense Against False Information, WhatsApp Rumors &amp; Coordinated Fake Claims (Challenge 2):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IoT Telemetry &amp; Satellite Moisture Cross-Check: Automatically flags fake canal breach / water starvation claims by cross-verifying reported coordinates against real-time cusecs discharge and satellite soil moisture indices.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Real-Time Ground-Truth Ticker: Live Awartan schedules &amp; reservoir levels broadcast to farmers, immediately debunking viral WhatsApp rumors regarding cancelled water rotations.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Sybil Spike Anomaly Filter: Algorithmically detects and downweights coordinated burst submissions aimed at hijacking water priority scores.</a:t>
            </a:r>
          </a:p>
          <a:p>
            <a:pPr>
              <a:defRPr sz="1200" b="1">
                <a:solidFill>
                  <a:srgbClr val="0B2545"/>
                </a:solidFill>
                <a:latin typeface="Calibri"/>
              </a:defRPr>
            </a:pPr>
            <a:r>
              <a:t>3. What Was Demonstrated Live to Judges: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Live simulation of sudden mid-flight data wipe with graceful zero-downtime memory recovery.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Live detection and debunking of a coordinated fake pump-failure claim with instant SHAP feature attribution.</a:t>
            </a:r>
          </a:p>
        </p:txBody>
      </p:sp>
      <p:pic>
        <p:nvPicPr>
          <p:cNvPr id="8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100" dirty="0"/>
          </a:p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PaperTrail</a:t>
            </a:r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IMPLEMENTATION, FEASIBILITY &amp; IMPACT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endParaRPr lang="en-US" sz="1900" dirty="0"/>
          </a:p>
          <a:p>
            <a:pPr>
              <a:defRPr sz="1200" b="1">
                <a:solidFill>
                  <a:srgbClr val="0B2545"/>
                </a:solidFill>
                <a:latin typeface="Calibri"/>
              </a:defRPr>
            </a:pPr>
            <a:r>
              <a:t>1. Technologies &amp; Tools Used within Challenge Window: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Interactive Geospatial Engine: Leaflet.js rendering 12 Kopargaon wards &amp; Godavari Left Bank Canal (GLBC) distributary reach.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Algorithmic Triage: Multi-Criteria Knapsack Optimization (MCDM) under strict 140 Cusec daily quota &amp; Maharashtra Irrigation Act 1976.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Cryptographic Security: Native Web Crypto SHA-256 hash chains for tamper-proof water permit logging (Maji Pauti).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Rural Accessibility: Web Speech Voice AI supporting natural Marathi &amp; English voice grievance intake for local farmers.</a:t>
            </a:r>
          </a:p>
          <a:p>
            <a:pPr>
              <a:defRPr sz="1200" b="1">
                <a:solidFill>
                  <a:srgbClr val="0F766E"/>
                </a:solidFill>
                <a:latin typeface="Calibri"/>
              </a:defRPr>
            </a:pPr>
            <a:r>
              <a:t>2. Feasibility &amp; Overcoming Challenges: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Client-Side Zero Latency: Entire digital twin executes locally in browser — works on low-end mobile devices in 2G/low-network rural fields.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Transparent &amp; Explainable AI: SHAP-style local feature contribution charts explain water prioritization directly to farmers, preventing grievances.</a:t>
            </a:r>
          </a:p>
          <a:p>
            <a:pPr>
              <a:defRPr sz="1200" b="1">
                <a:solidFill>
                  <a:srgbClr val="0F766E"/>
                </a:solidFill>
                <a:latin typeface="Calibri"/>
              </a:defRPr>
            </a:pPr>
            <a:r>
              <a:t>3. Real-World Transformation &amp; Impact: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Tail-End Equity: Prevents historical water starvation in tail-end Bet Kopargaon (Ward 1) through automated historical neglect weighting.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Municipal Conflict Resolution: Eliminates political interference and corruption in canal gate operations during severe summer drought.</a:t>
            </a:r>
          </a:p>
          <a:p>
            <a:pPr>
              <a:defRPr sz="1050" b="0">
                <a:solidFill>
                  <a:srgbClr val="1E293B"/>
                </a:solidFill>
                <a:latin typeface="Calibri"/>
              </a:defRPr>
            </a:pPr>
            <a:r>
              <a:t>   • 100% RTI Governance: One-click export of tamper-proof audit reports under RTI Act 2005 Section 4(1)(b).</a:t>
            </a:r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INSTRUCTIONS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must not exceed 4 slides, including the Title Slide.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response using bullet points, diagrams, or relevant visuals instead of lengthy paragraphs.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content clear, concise, and directly tied to the challenge you were given.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was actually built and demonstrated live during the challenge window — not planned or hypothetical work.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official presentation template provided. Do not modify the template structure, slide sequence, or the required sections.</a:t>
            </a:r>
            <a:endParaRPr lang="en-US" sz="1600" dirty="0"/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293</Words>
  <Application>Microsoft Office PowerPoint</Application>
  <PresentationFormat>Widescreen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new</cp:lastModifiedBy>
  <cp:revision>2</cp:revision>
  <dcterms:created xsi:type="dcterms:W3CDTF">2026-08-29T20:46:36Z</dcterms:created>
  <dcterms:modified xsi:type="dcterms:W3CDTF">2026-08-30T01:15:21Z</dcterms:modified>
</cp:coreProperties>
</file>